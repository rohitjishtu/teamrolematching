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5"/>
    <p:sldMasterId id="214748369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Fira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">
          <p15:clr>
            <a:srgbClr val="A4A3A4"/>
          </p15:clr>
        </p15:guide>
        <p15:guide id="3" pos="460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7E764C-5705-4CAA-B17A-EE64B104C361}">
  <a:tblStyle styleId="{8D7E764C-5705-4CAA-B17A-EE64B104C36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"/>
        <p:guide pos="460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-bold.fntdata"/><Relationship Id="rId11" Type="http://schemas.openxmlformats.org/officeDocument/2006/relationships/slide" Target="slides/slide4.xml"/><Relationship Id="rId22" Type="http://schemas.openxmlformats.org/officeDocument/2006/relationships/font" Target="fonts/FiraSans-boldItalic.fntdata"/><Relationship Id="rId10" Type="http://schemas.openxmlformats.org/officeDocument/2006/relationships/slide" Target="slides/slide3.xml"/><Relationship Id="rId21" Type="http://schemas.openxmlformats.org/officeDocument/2006/relationships/font" Target="fonts/FiraSa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FiraSans-regular.fntdata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1259069cf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11259069c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157e648c92_0_0:notes"/>
          <p:cNvSpPr txBox="1"/>
          <p:nvPr>
            <p:ph idx="1" type="body"/>
          </p:nvPr>
        </p:nvSpPr>
        <p:spPr>
          <a:xfrm>
            <a:off x="686421" y="4400238"/>
            <a:ext cx="5485200" cy="3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1157e648c9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380f303bcf_0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2380f303bc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Why are these topics important?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0b5ec15247_0_2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10b5ec15247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1a40981fd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1a40981fd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1a40981fd9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1a40981fd9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1a40981fd9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1a40981fd9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1a40981fd9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1a40981fd9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1a40981fd9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1a40981fd9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1a40981fd9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1a40981fd9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1a40981fd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1a40981fd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"/>
              <a:buNone/>
              <a:defRPr b="1" sz="6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25" name="Google Shape;2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6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" name="Google Shape;43;p11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" name="Google Shape;48;p12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ira Sans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Fira Sans"/>
              <a:buNone/>
              <a:defRPr sz="3200"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7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84" name="Google Shape;84;p18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ra Sans"/>
              <a:buNone/>
              <a:defRPr sz="52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4" name="Google Shape;9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8" name="Google Shape;98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2" name="Google Shape;11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9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"/>
              <a:buNone/>
              <a:defRPr b="1" sz="6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20" name="Google Shape;12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9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" name="Google Shape;12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8" name="Google Shape;128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32"/>
          <p:cNvSpPr txBox="1"/>
          <p:nvPr>
            <p:ph idx="1" type="subTitle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5" name="Google Shape;13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431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8" name="Google Shape;138;p34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39" name="Google Shape;139;p34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40" name="Google Shape;14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5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431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3" name="Google Shape;143;p35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44" name="Google Shape;144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431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7" name="Google Shape;147;p36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48" name="Google Shape;148;p36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49" name="Google Shape;149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7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54" name="Google Shape;154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55" name="Google Shape;155;p37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8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8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1" name="Google Shape;161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2" name="Google Shape;162;p38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3" name="Google Shape;163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9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9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ira Sans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7" name="Google Shape;167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8" name="Google Shape;168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9" name="Google Shape;169;p39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Fira Sans"/>
              <a:buNone/>
              <a:defRPr sz="3200"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0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40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" name="Google Shape;174;p40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1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8" name="Google Shape;178;p41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179" name="Google Shape;179;p41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ra Sans"/>
              <a:buNone/>
              <a:defRPr sz="5200"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9" name="Google Shape;189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0" name="Google Shape;19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3" name="Google Shape;193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4" name="Google Shape;19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" name="Google Shape;197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AutoNum type="arabicPeriod"/>
              <a:defRPr sz="2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98" name="Google Shape;198;p47"/>
          <p:cNvSpPr txBox="1"/>
          <p:nvPr>
            <p:ph idx="12" type="sldNum"/>
          </p:nvPr>
        </p:nvSpPr>
        <p:spPr>
          <a:xfrm>
            <a:off x="8595300" y="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35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41.xml"/><Relationship Id="rId6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Fira Sans"/>
              <a:buNone/>
              <a:defRPr b="0" i="0" sz="28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"/>
              <a:buChar char="●"/>
              <a:defRPr b="0" i="0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Fira Sans"/>
              <a:buNone/>
              <a:defRPr b="0" i="0" sz="28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2" name="Google Shape;10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"/>
              <a:buChar char="●"/>
              <a:defRPr b="0" i="0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9.jp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8"/>
          <p:cNvSpPr txBox="1"/>
          <p:nvPr>
            <p:ph type="title"/>
          </p:nvPr>
        </p:nvSpPr>
        <p:spPr>
          <a:xfrm>
            <a:off x="455100" y="1108385"/>
            <a:ext cx="8233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4000">
                <a:solidFill>
                  <a:srgbClr val="00B0F0"/>
                </a:solidFill>
              </a:rPr>
              <a:t>Essentials of Probability</a:t>
            </a:r>
            <a:endParaRPr b="1" sz="400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b="1" lang="en" sz="3000"/>
            </a:br>
            <a:br>
              <a:rPr b="1" lang="en" sz="3000"/>
            </a:br>
            <a:r>
              <a:rPr b="1" lang="en" sz="3000">
                <a:solidFill>
                  <a:schemeClr val="lt1"/>
                </a:solidFill>
              </a:rPr>
              <a:t>Instructor: TBA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204" name="Google Shape;204;p48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9"/>
          <p:cNvSpPr txBox="1"/>
          <p:nvPr>
            <p:ph idx="12" type="sldNum"/>
          </p:nvPr>
        </p:nvSpPr>
        <p:spPr>
          <a:xfrm>
            <a:off x="7886667" y="4475239"/>
            <a:ext cx="56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49"/>
          <p:cNvSpPr/>
          <p:nvPr/>
        </p:nvSpPr>
        <p:spPr>
          <a:xfrm>
            <a:off x="533400" y="473720"/>
            <a:ext cx="67437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Introduction – </a:t>
            </a:r>
            <a:r>
              <a:rPr b="1" i="0" lang="en" sz="3000" u="none" cap="none" strike="noStrike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Julie Wilkins</a:t>
            </a:r>
            <a:endParaRPr b="0" i="0" sz="3000" u="none" cap="none" strike="noStrike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" name="Google Shape;211;p49"/>
          <p:cNvSpPr txBox="1"/>
          <p:nvPr/>
        </p:nvSpPr>
        <p:spPr>
          <a:xfrm>
            <a:off x="533400" y="1248311"/>
            <a:ext cx="56541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Senior Product Manager, Amazon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(Corporate Projects, Logistics)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MBA – Temple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BA – Louisiana State University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lh3.googleusercontent.com/wOV7-AKyjsy8ATxDv3cQjK-JbC83QsRWySMooyySQcBmCc-S9lS5wgeCYy-wbCz9eLDhwNCGeMRS0ElbTxqJeL0VuZCRZrT5Q-9uYnaTbqAwX5ZwNJi4tXAtdhuFHO0qMXbJyVggOgeG" id="212" name="Google Shape;21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7327" y="2993061"/>
            <a:ext cx="1628776" cy="1085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4.googleusercontent.com/lXbtv9zYBO3IPuGgSQ090Y54C6gG8sAo22YEdt4FAc0y6xDvDgJTL8meJp62S_zaF98wuqLUcnbNFSuvAGMm3bkAN7qyhTTB6LHvFqgB9v5pnJMM4DcM3NqLVf_CqknBjYXSsnj6SdjF" id="213" name="Google Shape;213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3237" y="3714444"/>
            <a:ext cx="1259511" cy="1267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3.googleusercontent.com/t96RYwflIz6bAk2u4Ff_J9Algg8B7hsTtuOaPmggL9WRPWTY0KkEM76r_eL1KUjjYrRsQKDfdrHi7RNP5tikhQyIEO0LnRBfO1FYU7VVOpJ4ku8cp1K1fVUPSg79dWWGBAtA9MipCTx1" id="214" name="Google Shape;214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06724" y="2937698"/>
            <a:ext cx="1797075" cy="119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08138" y="3057023"/>
            <a:ext cx="1435858" cy="9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3552825"/>
            <a:ext cx="160020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03803" y="2937700"/>
            <a:ext cx="1533525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1XG6LPxy0FLtIAqS76MVG8shPizD9GZW0N4sKl2JU1ZSpEyZHdtN-bOf9cYiOUNtsM8bZaoj_DIS_cMANF89RrlDwL2uIQGJKq9eMGz5uf8OkIamy0BXWfDs9T0SWtTogRTIEJllTp40" id="218" name="Google Shape;218;p4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80648" y="4133563"/>
            <a:ext cx="2297430" cy="95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4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78078" y="4069266"/>
            <a:ext cx="16287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906838" y="4026400"/>
            <a:ext cx="2085975" cy="1171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49"/>
          <p:cNvCxnSpPr/>
          <p:nvPr/>
        </p:nvCxnSpPr>
        <p:spPr>
          <a:xfrm>
            <a:off x="5458800" y="1044475"/>
            <a:ext cx="945900" cy="945900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49"/>
          <p:cNvSpPr txBox="1"/>
          <p:nvPr/>
        </p:nvSpPr>
        <p:spPr>
          <a:xfrm>
            <a:off x="6483575" y="1566675"/>
            <a:ext cx="2085900" cy="1262100"/>
          </a:xfrm>
          <a:prstGeom prst="rect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Fira Sans"/>
                <a:ea typeface="Fira Sans"/>
                <a:cs typeface="Fira Sans"/>
                <a:sym typeface="Fira Sans"/>
              </a:rPr>
              <a:t>Replace it with Instructor Name/background/related photographs to introduce to learners</a:t>
            </a:r>
            <a:endParaRPr>
              <a:solidFill>
                <a:srgbClr val="FF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" name="Google Shape;227;p50"/>
          <p:cNvGraphicFramePr/>
          <p:nvPr/>
        </p:nvGraphicFramePr>
        <p:xfrm>
          <a:off x="302863" y="70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{8D7E764C-5705-4CAA-B17A-EE64B104C361}</a:tableStyleId>
              </a:tblPr>
              <a:tblGrid>
                <a:gridCol w="1139850"/>
                <a:gridCol w="2252675"/>
                <a:gridCol w="1486075"/>
                <a:gridCol w="1707275"/>
                <a:gridCol w="2111900"/>
              </a:tblGrid>
              <a:tr h="519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1st Hour (9-10 PT)</a:t>
                      </a:r>
                      <a:endParaRPr b="1" sz="1300"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96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2nd Hour (10-11 PT)</a:t>
                      </a:r>
                      <a:endParaRPr b="1" sz="1300"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96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3rd Hour (11-12 PT)</a:t>
                      </a:r>
                      <a:endParaRPr b="1" sz="1300"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96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4th Hour (12-1 PT)</a:t>
                      </a:r>
                      <a:endParaRPr b="1" sz="1300"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96D2"/>
                    </a:solidFill>
                  </a:tcPr>
                </a:tc>
              </a:tr>
              <a:tr h="65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h:00 - h: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15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Brief introduction to calculus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Derivatives and partial derivatives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Integration, double integration, AUC and ROC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Fira Sans"/>
                        <a:buChar char="●"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 very brief introduction to convex functions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Fira Sans"/>
                        <a:buChar char="●"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Gradient Descent &amp; its Variants --&gt; ML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3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h: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15</a:t>
                      </a:r>
                      <a:r>
                        <a:rPr lang="en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- h: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35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Fira Sans"/>
                        <a:buChar char="●"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Revisiting functions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Fira Sans"/>
                        <a:buChar char="●"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Commonly used functions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Fira Sans"/>
                        <a:buChar char="●"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Applications in ML</a:t>
                      </a:r>
                      <a:endParaRPr>
                        <a:solidFill>
                          <a:srgbClr val="FF0000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 vMerge="1"/>
              </a:tr>
              <a:tr h="1438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h: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3</a:t>
                      </a:r>
                      <a:r>
                        <a:rPr lang="en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5 - h:55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Fira Sans"/>
                        <a:buChar char="●"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Limits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-3175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Fira Sans"/>
                        <a:buChar char="●"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Continuity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Fira Sans"/>
                        <a:buChar char="●"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Exercises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Practice Problems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Practice Problems</a:t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1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h:55 - h:00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Summary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Break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Break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Summary</a:t>
                      </a:r>
                      <a:endParaRPr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8" name="Google Shape;228;p50"/>
          <p:cNvSpPr txBox="1"/>
          <p:nvPr>
            <p:ph type="title"/>
          </p:nvPr>
        </p:nvSpPr>
        <p:spPr>
          <a:xfrm>
            <a:off x="242650" y="84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00"/>
              <a:t>Today’s </a:t>
            </a:r>
            <a:r>
              <a:rPr lang="en" sz="2700">
                <a:solidFill>
                  <a:srgbClr val="3896D2"/>
                </a:solidFill>
              </a:rPr>
              <a:t>Agenda</a:t>
            </a:r>
            <a:endParaRPr sz="2700">
              <a:solidFill>
                <a:srgbClr val="3896D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1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5000"/>
              <a:t>TOPIC #1</a:t>
            </a:r>
            <a:endParaRPr b="0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5000"/>
              <a:t>Insert Topic_Name</a:t>
            </a:r>
            <a:endParaRPr sz="5000"/>
          </a:p>
        </p:txBody>
      </p:sp>
      <p:sp>
        <p:nvSpPr>
          <p:cNvPr id="234" name="Google Shape;234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 sz="13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 sz="13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Hook</a:t>
            </a:r>
            <a:endParaRPr/>
          </a:p>
        </p:txBody>
      </p:sp>
      <p:sp>
        <p:nvSpPr>
          <p:cNvPr id="240" name="Google Shape;240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&lt;Add example/story/use-case as a hook to Gain Attention of the Learner + Arouse Curiosity&gt;</a:t>
            </a:r>
            <a:endParaRPr/>
          </a:p>
        </p:txBody>
      </p:sp>
      <p:sp>
        <p:nvSpPr>
          <p:cNvPr id="241" name="Google Shape;241;p52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</a:t>
            </a:r>
            <a:endParaRPr/>
          </a:p>
        </p:txBody>
      </p:sp>
      <p:sp>
        <p:nvSpPr>
          <p:cNvPr id="247" name="Google Shape;247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&lt;Mind Map (State Learning Objectives) in a clear structure&gt;</a:t>
            </a:r>
            <a:endParaRPr/>
          </a:p>
        </p:txBody>
      </p:sp>
      <p:sp>
        <p:nvSpPr>
          <p:cNvPr id="248" name="Google Shape;248;p53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</a:t>
            </a:r>
            <a:endParaRPr/>
          </a:p>
        </p:txBody>
      </p:sp>
      <p:sp>
        <p:nvSpPr>
          <p:cNvPr id="254" name="Google Shape;254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&lt;</a:t>
            </a:r>
            <a:r>
              <a:rPr lang="en"/>
              <a:t>Establish Relevance: Explain when / </a:t>
            </a:r>
            <a:r>
              <a:rPr lang="en"/>
              <a:t>how</a:t>
            </a:r>
            <a:r>
              <a:rPr lang="en"/>
              <a:t> the learner will use and benefit from learning the topic&gt;</a:t>
            </a:r>
            <a:endParaRPr/>
          </a:p>
        </p:txBody>
      </p:sp>
      <p:sp>
        <p:nvSpPr>
          <p:cNvPr id="255" name="Google Shape;255;p54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Activation (Activate prior knowledge / Build new knowledge)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5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&lt; </a:t>
            </a:r>
            <a:r>
              <a:rPr lang="en"/>
              <a:t>Demonstration  (Start with a simple, real problem) &gt;</a:t>
            </a:r>
            <a:endParaRPr/>
          </a:p>
        </p:txBody>
      </p:sp>
      <p:sp>
        <p:nvSpPr>
          <p:cNvPr id="269" name="Google Shape;269;p56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Engage learners/ Ask questions / Assessments(MCQ)</a:t>
            </a:r>
            <a:endParaRPr/>
          </a:p>
        </p:txBody>
      </p:sp>
      <p:sp>
        <p:nvSpPr>
          <p:cNvPr id="276" name="Google Shape;276;p57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Summary /Priming for next topic</a:t>
            </a:r>
            <a:endParaRPr/>
          </a:p>
        </p:txBody>
      </p:sp>
      <p:sp>
        <p:nvSpPr>
          <p:cNvPr id="283" name="Google Shape;283;p58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